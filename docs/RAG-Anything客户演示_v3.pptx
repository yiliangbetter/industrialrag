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9" r:id="rId5"/>
    <p:sldId id="260" r:id="rId6"/>
    <p:sldId id="261" r:id="rId7"/>
    <p:sldId id="262" r:id="rId8"/>
    <p:sldId id="263" r:id="rId9"/>
    <p:sldId id="265" r:id="rId10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632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2989580" cy="7683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南兴</a:t>
            </a:r>
            <a:r>
              <a:rPr lang="zh-CN"/>
              <a:t>知识库</a:t>
            </a:r>
            <a:endParaRPr lang="zh-CN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2011680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智能问答系统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337560"/>
            <a:ext cx="996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4A3B8"/>
                </a:solidFill>
                <a:latin typeface="微软雅黑" panose="020B0503020204020204" charset="-122"/>
              </a:defRPr>
            </a:pPr>
            <a:r>
              <a:t>2026</a:t>
            </a:r>
            <a:r>
              <a:rPr lang="en-US"/>
              <a:t>.7.14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面向企业文档的一站式检索增强生成（RAG）平台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10789920" cy="38747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285750" indent="-285750">
              <a:lnSpc>
                <a:spcPct val="250000"/>
              </a:lnSpc>
              <a:spcAft>
                <a:spcPts val="1000"/>
              </a:spcAft>
              <a:buFont typeface="Wingdings" panose="05000000000000000000" charset="0"/>
              <a:buChar char="ü"/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支持 PDF、Office、图像等多格式文档的统一解析与知识入库</a:t>
            </a:r>
          </a:p>
          <a:p>
            <a:pPr marL="285750" indent="-285750">
              <a:lnSpc>
                <a:spcPct val="250000"/>
              </a:lnSpc>
              <a:spcAft>
                <a:spcPts val="1000"/>
              </a:spcAft>
              <a:buFont typeface="Wingdings" panose="05000000000000000000" charset="0"/>
              <a:buChar char="ü"/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融合向量检索与知识图谱，实现跨</a:t>
            </a:r>
            <a:r>
              <a:rPr lang="zh-CN"/>
              <a:t>文档</a:t>
            </a:r>
            <a:r>
              <a:t>、跨章节的精准问答</a:t>
            </a:r>
          </a:p>
          <a:p>
            <a:pPr marL="285750" indent="-285750">
              <a:lnSpc>
                <a:spcPct val="250000"/>
              </a:lnSpc>
              <a:spcAft>
                <a:spcPts val="1000"/>
              </a:spcAft>
              <a:buFont typeface="Wingdings" panose="05000000000000000000" charset="0"/>
              <a:buChar char="ü"/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内置澄清门控：模糊问题智能推荐，高置信问题直接作答</a:t>
            </a:r>
          </a:p>
          <a:p>
            <a:pPr marL="285750" indent="-285750">
              <a:lnSpc>
                <a:spcPct val="250000"/>
              </a:lnSpc>
              <a:spcAft>
                <a:spcPts val="1000"/>
              </a:spcAft>
              <a:buFont typeface="Wingdings" panose="05000000000000000000" charset="0"/>
              <a:buChar char="ü"/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答案自动关联配图，图文并茂展示操作步骤与结构示意</a:t>
            </a:r>
          </a:p>
          <a:p>
            <a:pPr marL="285750" indent="-285750">
              <a:lnSpc>
                <a:spcPct val="250000"/>
              </a:lnSpc>
              <a:spcAft>
                <a:spcPts val="1000"/>
              </a:spcAft>
              <a:buFont typeface="Wingdings" panose="05000000000000000000" charset="0"/>
              <a:buChar char="ü"/>
              <a:defRPr sz="16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Web 浏览器即用：对话问答、文件灌库、流式输出一体化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核心模块协作关系 · 灌库与查询共用引擎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92040" y="1325880"/>
            <a:ext cx="242316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配置与运维</a:t>
            </a:r>
            <a:br/>
            <a:r>
              <a:t>模型 · 参数 · 环境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92040" y="2697480"/>
            <a:ext cx="260604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RAG 引擎</a:t>
            </a:r>
            <a:br/>
            <a:r>
              <a:t>检索编排 · 知识库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697480"/>
            <a:ext cx="2423160" cy="9144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灌库模块</a:t>
            </a:r>
            <a:br/>
            <a:r>
              <a:t>文档解析 · 索引写入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697480"/>
            <a:ext cx="2423160" cy="9144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检索模块</a:t>
            </a:r>
            <a:br/>
            <a:r>
              <a:t>向量 · 图谱 · 重排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06840" y="4091940"/>
            <a:ext cx="2423160" cy="9144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问答生成</a:t>
            </a:r>
            <a:br/>
            <a:r>
              <a:t>LLM · 流式输出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4892040"/>
            <a:ext cx="2423160" cy="9144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接入与展示</a:t>
            </a:r>
            <a:br/>
            <a:r>
              <a:t>Web 界面 · 对话 · 上传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3620" y="2240280"/>
            <a:ext cx="0" cy="4572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3640" y="233172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配置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383280" y="3154680"/>
            <a:ext cx="15087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794760" y="2880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入库</a:t>
            </a:r>
          </a:p>
        </p:txBody>
      </p:sp>
      <p:cxnSp>
        <p:nvCxnSpPr>
          <p:cNvPr id="15" name="Connector 14"/>
          <p:cNvCxnSpPr>
            <a:stCxn id="10" idx="1"/>
          </p:cNvCxnSpPr>
          <p:nvPr/>
        </p:nvCxnSpPr>
        <p:spPr>
          <a:xfrm flipH="1" flipV="1">
            <a:off x="2148840" y="3611880"/>
            <a:ext cx="2743200" cy="173736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703195" y="489204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上传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103620" y="3657600"/>
            <a:ext cx="0" cy="123444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34340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提问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498079" y="3154680"/>
            <a:ext cx="1325881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8120" y="28803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检索</a:t>
            </a:r>
          </a:p>
        </p:txBody>
      </p:sp>
      <p:cxnSp>
        <p:nvCxnSpPr>
          <p:cNvPr id="21" name="Connector 20"/>
          <p:cNvCxnSpPr>
            <a:endCxn id="9" idx="0"/>
          </p:cNvCxnSpPr>
          <p:nvPr/>
        </p:nvCxnSpPr>
        <p:spPr>
          <a:xfrm>
            <a:off x="10218420" y="3566160"/>
            <a:ext cx="0" cy="5257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49840" y="33375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精排</a:t>
            </a:r>
          </a:p>
        </p:txBody>
      </p:sp>
      <p:cxnSp>
        <p:nvCxnSpPr>
          <p:cNvPr id="23" name="Connector 22"/>
          <p:cNvCxnSpPr>
            <a:stCxn id="9" idx="1"/>
            <a:endCxn id="10" idx="3"/>
          </p:cNvCxnSpPr>
          <p:nvPr/>
        </p:nvCxnSpPr>
        <p:spPr>
          <a:xfrm flipH="1">
            <a:off x="7315200" y="4549140"/>
            <a:ext cx="1691640" cy="8001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0" y="470916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98932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灌库路径：上传 → 灌库 → 引擎入库  |  问答路径：提问 → 引擎 → 检索 → 生成 → 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文档灌库流程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一次解析，持久索引，支持增量上传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上传文档</a:t>
            </a:r>
            <a:br/>
            <a:r>
              <a:t>PDF / Office / 图像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88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MinerU</a:t>
            </a:r>
            <a:br/>
            <a:r>
              <a:t>结构化解析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79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74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内容分解</a:t>
            </a:r>
          </a:p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rPr lang="en-US"/>
              <a:t>LLM</a:t>
            </a:r>
          </a:p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rPr lang="zh-CN" altLang="en-US"/>
              <a:t>实体与关系抽取</a:t>
            </a:r>
            <a:br/>
            <a:r>
              <a:rPr lang="zh-CN" altLang="en-US"/>
              <a:t>实体/关系描述合并摘要</a:t>
            </a:r>
            <a:endParaRPr lang="zh-CN" altLang="en-US"/>
          </a:p>
        </p:txBody>
      </p:sp>
      <p:cxnSp>
        <p:nvCxnSpPr>
          <p:cNvPr id="10" name="Connector 9"/>
          <p:cNvCxnSpPr/>
          <p:nvPr/>
        </p:nvCxnSpPr>
        <p:spPr>
          <a:xfrm>
            <a:off x="7040879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60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图文配对</a:t>
            </a:r>
            <a:br/>
            <a:r>
              <a:t>chunk 合并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892808"/>
            <a:ext cx="68580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646920" y="1417320"/>
            <a:ext cx="196596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写入知识库</a:t>
            </a:r>
            <a:br/>
            <a:r>
              <a:t>向量 </a:t>
            </a:r>
            <a:r>
              <a:rPr lang="zh-CN"/>
              <a:t>（</a:t>
            </a:r>
            <a:r>
              <a:rPr lang="en-US" altLang="zh-CN"/>
              <a:t>NanoVectorDB</a:t>
            </a:r>
            <a:r>
              <a:rPr lang="zh-CN" altLang="en-US"/>
              <a:t>）</a:t>
            </a:r>
            <a:r>
              <a:t>+ 图谱</a:t>
            </a:r>
            <a:r>
              <a:rPr lang="zh-CN"/>
              <a:t>（</a:t>
            </a:r>
            <a:r>
              <a:rPr lang="en-US" altLang="zh-CN"/>
              <a:t>NetworkX 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1097280" y="3063240"/>
            <a:ext cx="9966960" cy="2148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灌库产出</a:t>
            </a:r>
            <a:br/>
            <a:br/>
            <a:r>
              <a:t>• text_chunks：带 order_index 的正文块，含 inline 图片引用</a:t>
            </a:r>
            <a:br/>
            <a:r>
              <a:t>• 知识图谱：实体抽取与关系构建，支持 mix 混合检索</a:t>
            </a:r>
            <a:br/>
            <a:r>
              <a:t>• 向量索引：语义相似度召回，配合 rerank 精排</a:t>
            </a:r>
            <a:br/>
            <a:r>
              <a:t>• 工作目录：rag_storage_run 等，Web 与 CLI 共用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184140" y="2469515"/>
            <a:ext cx="18459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Token</a:t>
            </a:r>
            <a:r>
              <a:rPr lang="zh-CN" altLang="en-US">
                <a:solidFill>
                  <a:schemeClr val="accent6">
                    <a:lumMod val="75000"/>
                  </a:schemeClr>
                </a:solidFill>
                <a:highlight>
                  <a:srgbClr val="FFFF00"/>
                </a:highlight>
              </a:rPr>
              <a:t>消耗较大</a:t>
            </a:r>
            <a:endParaRPr lang="zh-CN" altLang="en-US">
              <a:solidFill>
                <a:schemeClr val="accent6">
                  <a:lumMod val="75000"/>
                </a:schemeClr>
              </a:solidFill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查询链路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澄清门控 + 混合检索 + 流式生成 + 配图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84250" y="1492885"/>
            <a:ext cx="1463040" cy="68580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用户提问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47290" y="1831213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721610" y="1492885"/>
            <a:ext cx="182880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澄清门控</a:t>
            </a:r>
            <a:br/>
            <a:r>
              <a:t>probe + rerank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50410" y="1831213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24730" y="1310005"/>
            <a:ext cx="1417320" cy="502920"/>
          </a:xfrm>
          <a:prstGeom prst="roundRect">
            <a:avLst/>
          </a:prstGeom>
          <a:solidFill>
            <a:srgbClr val="FEE2E2"/>
          </a:solidFill>
          <a:ln w="1587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拒答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24730" y="1858645"/>
            <a:ext cx="1417320" cy="502920"/>
          </a:xfrm>
          <a:prstGeom prst="roundRect">
            <a:avLst/>
          </a:prstGeom>
          <a:solidFill>
            <a:srgbClr val="DCFCE7"/>
          </a:solidFill>
          <a:ln w="15875">
            <a:solidFill>
              <a:srgbClr val="0E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直答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4730" y="2407285"/>
            <a:ext cx="1417320" cy="502920"/>
          </a:xfrm>
          <a:prstGeom prst="roundRect">
            <a:avLst/>
          </a:prstGeom>
          <a:solidFill>
            <a:srgbClr val="FFEDD5"/>
          </a:solidFill>
          <a:ln w="1587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推荐澄清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242050" y="2105533"/>
            <a:ext cx="27432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16370" y="1858645"/>
            <a:ext cx="1554480" cy="5029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用户点选</a:t>
            </a:r>
            <a:br/>
            <a:r>
              <a:t>推荐问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6390" y="3615055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关键词抽取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7990" y="3615055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向量 + 图谱</a:t>
            </a:r>
            <a:br/>
            <a:r>
              <a:t>mix 检索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19590" y="3615055"/>
            <a:ext cx="1234440" cy="68580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rerank 重排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910830" y="3953383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82430" y="3953383"/>
            <a:ext cx="13716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32238" y="4300855"/>
            <a:ext cx="0" cy="41148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19590" y="4712335"/>
            <a:ext cx="1234440" cy="59436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0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LLM</a:t>
            </a:r>
            <a:br/>
            <a:r>
              <a:t>流式生成</a:t>
            </a:r>
          </a:p>
        </p:txBody>
      </p:sp>
      <p:cxnSp>
        <p:nvCxnSpPr>
          <p:cNvPr id="31" name="Connector 11"/>
          <p:cNvCxnSpPr>
            <a:stCxn id="13" idx="2"/>
            <a:endCxn id="14" idx="0"/>
          </p:cNvCxnSpPr>
          <p:nvPr/>
        </p:nvCxnSpPr>
        <p:spPr>
          <a:xfrm>
            <a:off x="7293610" y="2361438"/>
            <a:ext cx="0" cy="125349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部署拓扑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本地私有化部署 · 云端 LLM 按需接入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4640" y="2769870"/>
            <a:ext cx="8300720" cy="3356610"/>
          </a:xfrm>
          <a:prstGeom prst="roundRect">
            <a:avLst/>
          </a:prstGeom>
          <a:noFill/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9880" y="2470277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本地 / 内网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234440"/>
            <a:ext cx="2880360" cy="1874519"/>
          </a:xfrm>
          <a:prstGeom prst="roundRect">
            <a:avLst/>
          </a:prstGeom>
          <a:noFill/>
          <a:ln w="19050">
            <a:solidFill>
              <a:srgbClr val="94A3B8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6840" y="130759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云端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930" y="2967990"/>
            <a:ext cx="214884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前端</a:t>
            </a:r>
            <a:br/>
            <a:r>
              <a:t>Web 浏览器</a:t>
            </a:r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3371850" y="2967990"/>
            <a:ext cx="2148840" cy="960120"/>
          </a:xfrm>
          <a:prstGeom prst="roundRect">
            <a:avLst/>
          </a:prstGeom>
          <a:solidFill>
            <a:srgbClr val="2563EB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sz="1600"/>
              <a:t>后端应用服务</a:t>
            </a:r>
            <a:endParaRPr sz="1600"/>
          </a:p>
          <a:p>
            <a:pPr algn="ctr">
              <a:defRPr sz="1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 sz="1600"/>
              <a:t>支持</a:t>
            </a:r>
            <a:r>
              <a:rPr lang="en-US" altLang="zh-CN"/>
              <a:t>Windows/</a:t>
            </a:r>
            <a:r>
              <a:rPr lang="en-US" altLang="zh-CN"/>
              <a:t>Linux/MacOS</a:t>
            </a:r>
            <a:endParaRPr lang="en-US" altLang="zh-CN"/>
          </a:p>
        </p:txBody>
      </p:sp>
      <p:sp>
        <p:nvSpPr>
          <p:cNvPr id="11" name="Rounded Rectangle 10"/>
          <p:cNvSpPr/>
          <p:nvPr/>
        </p:nvSpPr>
        <p:spPr>
          <a:xfrm>
            <a:off x="6160770" y="2967990"/>
            <a:ext cx="2148840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RAG 引擎</a:t>
            </a:r>
            <a:br/>
            <a:r>
              <a:t>检索 · 编排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31770" y="3452622"/>
            <a:ext cx="6400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520690" y="3452622"/>
            <a:ext cx="640080" cy="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95880" y="3222625"/>
            <a:ext cx="813435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HTTP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20690" y="3219450"/>
            <a:ext cx="8077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600200"/>
            <a:ext cx="2331720" cy="9601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云端 LLM</a:t>
            </a:r>
            <a:br/>
            <a:r>
              <a:t>大语言模型</a:t>
            </a:r>
          </a:p>
        </p:txBody>
      </p:sp>
      <p:cxnSp>
        <p:nvCxnSpPr>
          <p:cNvPr id="17" name="Connector 16"/>
          <p:cNvCxnSpPr>
            <a:stCxn id="11" idx="3"/>
            <a:endCxn id="16" idx="1"/>
          </p:cNvCxnSpPr>
          <p:nvPr/>
        </p:nvCxnSpPr>
        <p:spPr>
          <a:xfrm flipV="1">
            <a:off x="8309609" y="2080260"/>
            <a:ext cx="788670" cy="1367790"/>
          </a:xfrm>
          <a:prstGeom prst="line">
            <a:avLst/>
          </a:prstGeom>
          <a:ln w="25400">
            <a:solidFill>
              <a:srgbClr val="475569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771130" y="2240280"/>
            <a:ext cx="160147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HTTPS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23010" y="5071110"/>
            <a:ext cx="25146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本地知识库</a:t>
            </a:r>
            <a:br/>
            <a:r>
              <a:t>向量 · 图谱 · 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26330" y="5071110"/>
            <a:ext cx="2514600" cy="9601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本地模型</a:t>
            </a:r>
            <a:br/>
            <a:r>
              <a:t>Embedding · Rerank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2457450" y="3928110"/>
            <a:ext cx="4251960" cy="11430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6160770" y="3928110"/>
            <a:ext cx="1051560" cy="114300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048760" y="4525645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读写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7930" y="4431030"/>
            <a:ext cx="1280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325" y="622935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475569"/>
                </a:solidFill>
                <a:latin typeface="微软雅黑" panose="020B0503020204020204" charset="-122"/>
              </a:defRPr>
            </a:pPr>
            <a:r>
              <a:t>知识库与 Embedding/Rerank 可完全本地化；LLM 亦支持本地 vLLM / Ollama，无需上云</a:t>
            </a:r>
          </a:p>
        </p:txBody>
      </p:sp>
      <p:sp>
        <p:nvSpPr>
          <p:cNvPr id="26" name="Rounded Rectangle 8"/>
          <p:cNvSpPr/>
          <p:nvPr/>
        </p:nvSpPr>
        <p:spPr>
          <a:xfrm>
            <a:off x="3202305" y="1348740"/>
            <a:ext cx="2484755" cy="9601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前端</a:t>
            </a:r>
            <a:br/>
            <a:r>
              <a:rPr lang="zh-CN"/>
              <a:t>手机</a:t>
            </a:r>
            <a:r>
              <a:rPr lang="en-US" altLang="zh-CN"/>
              <a:t>APP</a:t>
            </a:r>
            <a:r>
              <a:rPr lang="zh-CN" altLang="en-US"/>
              <a:t>，</a:t>
            </a:r>
            <a:r>
              <a:rPr lang="en-US" altLang="zh-CN"/>
              <a:t> Web</a:t>
            </a:r>
            <a:r>
              <a:rPr lang="zh-CN" altLang="en-US"/>
              <a:t>，微信</a:t>
            </a:r>
            <a:r>
              <a:rPr lang="zh-CN" altLang="en-US"/>
              <a:t>小程序</a:t>
            </a:r>
            <a:endParaRPr lang="zh-CN" altLang="en-US"/>
          </a:p>
        </p:txBody>
      </p:sp>
      <p:cxnSp>
        <p:nvCxnSpPr>
          <p:cNvPr id="27" name="Connector 20"/>
          <p:cNvCxnSpPr>
            <a:stCxn id="26" idx="2"/>
            <a:endCxn id="10" idx="0"/>
          </p:cNvCxnSpPr>
          <p:nvPr/>
        </p:nvCxnSpPr>
        <p:spPr>
          <a:xfrm>
            <a:off x="4445000" y="2308860"/>
            <a:ext cx="1270" cy="659130"/>
          </a:xfrm>
          <a:prstGeom prst="line">
            <a:avLst/>
          </a:prstGeom>
          <a:ln w="25400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面向客户场景的关键差异化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多格式文档</a:t>
            </a:r>
            <a:br/>
            <a:br/>
            <a:r>
              <a:t>PDF、Word、PPT、Excel、图像统一解析入库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混合检索</a:t>
            </a:r>
            <a:br/>
            <a:br/>
            <a:r>
              <a:t>向量语义 + 知识图谱，mix 模式融合召回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83880" y="132588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智能澄清</a:t>
            </a:r>
            <a:br/>
            <a:br/>
            <a:r>
              <a:t>低置信拒答，中置信推荐，高置信直答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图文并茂</a:t>
            </a:r>
            <a:br/>
            <a:br/>
            <a:r>
              <a:t>答案结构驱动配图，内联展示操作示意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流式体验</a:t>
            </a:r>
            <a:br/>
            <a:br/>
            <a:r>
              <a:t>SSE 实时推送检索/生成进度与逐字输出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3200400"/>
            <a:ext cx="352044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0">
                <a:solidFill>
                  <a:srgbClr val="1B365D"/>
                </a:solidFill>
                <a:latin typeface="微软雅黑" panose="020B0503020204020204" charset="-122"/>
              </a:defRPr>
            </a:pPr>
            <a:r>
              <a:t>私有化友好</a:t>
            </a:r>
            <a:br/>
            <a:br/>
            <a:r>
              <a:t>本地模型、离线权重、内网单节点部署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73152"/>
          </a:xfrm>
          <a:prstGeom prst="rect">
            <a:avLst/>
          </a:prstGeom>
          <a:solidFill>
            <a:srgbClr val="0E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感谢聆听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BD5E1"/>
                </a:solidFill>
                <a:latin typeface="微软雅黑" panose="020B0503020204020204" charset="-122"/>
              </a:defRPr>
            </a:pPr>
            <a:r>
              <a:t>欢迎现场演示与 Q&amp;A</a:t>
            </a:r>
            <a:br/>
            <a:br/>
            <a:r>
              <a:t>RAG-Anything · 让文档知识触手可及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WPS 演示</Application>
  <PresentationFormat>On-screen Show (4:3)</PresentationFormat>
  <Paragraphs>147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劉漢卿</cp:lastModifiedBy>
  <cp:revision>5</cp:revision>
  <dcterms:created xsi:type="dcterms:W3CDTF">2013-01-27T09:14:00Z</dcterms:created>
  <dcterms:modified xsi:type="dcterms:W3CDTF">2026-07-14T12:38:19Z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237F798F738B45EAB579BB3C00CE26AD_12</vt:lpwstr>
  </property>
</Properties>
</file>