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RAG-Anything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  <a:latin typeface="Microsoft YaHei"/>
              </a:defRPr>
            </a:pPr>
            <a:r>
              <a:t>多模态智能知识库问答系统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客户演示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面向企业文档的一站式检索增强生成（RAG）平台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支持 PDF、Office、图像等多格式文档的统一解析与知识入库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融合向量检索与知识图谱，实现跨模态、跨章节的精准问答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内置澄清门控：模糊问题智能推荐，高置信问题直接作答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答案自动关联配图，图文并茂展示操作步骤与结构示意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Web 浏览器即用：对话问答、文件灌库、流式输出一体化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多模态</a:t>
            </a:r>
            <a:br/>
            <a:r>
              <a:t>文本·图·表·公式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知识图谱</a:t>
            </a:r>
            <a:br/>
            <a:r>
              <a:t>实体关系索引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智能澄清</a:t>
            </a:r>
            <a:br/>
            <a:r>
              <a:t>rerank 门控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图文回答</a:t>
            </a:r>
            <a:br/>
            <a:r>
              <a:t>内联配图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分层设计 · 灌库与查询共用知识底座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接入层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234440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Web 浏览器  ·  FastAPI  ·  SSE 流式接口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0" y="1892808"/>
            <a:ext cx="0" cy="146304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2039112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039112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澄清门控  ·  进度钩子  ·  配图编排  ·  机型过滤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697480"/>
            <a:ext cx="0" cy="146304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843784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RAG 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843784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LightRAG / RAGAnything  ·  mix 混合检索  ·  rerank 重排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3502152"/>
            <a:ext cx="0" cy="146304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648456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解析层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648456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MinerU 文档解析  ·  图文合并  ·  chunk 切分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4306824"/>
            <a:ext cx="0" cy="146304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4453128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4453128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向量索引  ·  知识图谱  ·  text_chunks KV  ·  工作目录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5111496"/>
            <a:ext cx="0" cy="146304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5257800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5257800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LLM 大语言模型  ·  Embedding  ·  CrossEncoder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数据流：文档 → 解析灌库 → 索引存储  |  用户提问 → 检索生成 → 流式回答 + 配图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按业务能力划分 · 灌库与查询共用核心引擎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606040"/>
            <a:ext cx="3886200" cy="86868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RAG 引擎核心</a:t>
            </a:r>
            <a:br/>
            <a:r>
              <a:t>LightRAG · RAGAnything</a:t>
            </a:r>
            <a:br/>
            <a:r>
              <a:t>向量索引 · 知识图谱 · text_chunks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204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接入与展示</a:t>
            </a:r>
            <a:br/>
            <a:br/>
            <a:r>
              <a:t>Web 问答界面</a:t>
            </a:r>
            <a:br/>
            <a:r>
              <a:t>FastAPI / SSE</a:t>
            </a:r>
            <a:br/>
            <a:r>
              <a:t>上传灌库 · 健康检查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5204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配置与运维</a:t>
            </a:r>
            <a:br/>
            <a:br/>
            <a:r>
              <a:t>统一 .env 配置</a:t>
            </a:r>
            <a:br/>
            <a:r>
              <a:t>模型 / 检索参数</a:t>
            </a:r>
            <a:br/>
            <a:r>
              <a:t>调试 dump · 批测脚本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灌库模块</a:t>
            </a:r>
            <a:br/>
            <a:br/>
            <a:r>
              <a:t>MinerU 文档解析</a:t>
            </a:r>
            <a:br/>
            <a:r>
              <a:t>多模态内容处理</a:t>
            </a:r>
            <a:br/>
            <a:r>
              <a:t>图文合并 · chunk 入库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检索模块</a:t>
            </a:r>
            <a:br/>
            <a:br/>
            <a:r>
              <a:t>mix 混合检索</a:t>
            </a:r>
            <a:br/>
            <a:r>
              <a:t>CrossEncoder rerank</a:t>
            </a:r>
            <a:br/>
            <a:r>
              <a:t>向量相关性探测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批处理</a:t>
            </a:r>
            <a:br/>
            <a:br/>
            <a:r>
              <a:t>文件夹批量灌库</a:t>
            </a:r>
            <a:br/>
            <a:r>
              <a:t>content_list 导入</a:t>
            </a:r>
            <a:br/>
            <a:r>
              <a:t>增量重灌 / 回滚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3520440" cy="10515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澄清门控</a:t>
            </a:r>
            <a:br/>
            <a:br/>
            <a:r>
              <a:t>probe 轻量探测</a:t>
            </a:r>
            <a:br/>
            <a:r>
              <a:t>拒答 / 直答 / 推荐</a:t>
            </a:r>
            <a:br/>
            <a:r>
              <a:t>澄清上下文注入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074920"/>
            <a:ext cx="3520440" cy="1051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问答生成</a:t>
            </a:r>
            <a:br/>
            <a:br/>
            <a:r>
              <a:t>关键词抽取</a:t>
            </a:r>
            <a:br/>
            <a:r>
              <a:t>LLM 流式回答</a:t>
            </a:r>
            <a:br/>
            <a:r>
              <a:t>Prompt · 机型过滤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074920"/>
            <a:ext cx="35204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配图关联</a:t>
            </a:r>
            <a:br/>
            <a:br/>
            <a:r>
              <a:t>检索 chunk 挂接</a:t>
            </a:r>
            <a:br/>
            <a:r>
              <a:t>citation 证据收窄</a:t>
            </a:r>
            <a:br/>
            <a:r>
              <a:t>内联选图 · placement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3140" y="228600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44100" y="228600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03620" y="347472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63140" y="347472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03620" y="347472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944100" y="3474720"/>
            <a:ext cx="0" cy="3200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63140" y="4892040"/>
            <a:ext cx="0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03620" y="4892040"/>
            <a:ext cx="0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944100" y="4892040"/>
            <a:ext cx="0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模块映射：web/ + rag_web_server  ·  parser/processor/utils  ·  clarify_gate  ·  pipeline_rerank  ·  image_query_refs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文档灌库流程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一次解析，持久索引，支持增量上传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上传文档</a:t>
            </a:r>
            <a:br/>
            <a:r>
              <a:t>PDF / Office / 图像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892808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MinerU</a:t>
            </a:r>
            <a:br/>
            <a:r>
              <a:t>结构化解析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79" y="1892808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内容分解</a:t>
            </a:r>
            <a:br/>
            <a:r>
              <a:t>文本·图·表·公式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79" y="1892808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图文配对</a:t>
            </a:r>
            <a:br/>
            <a:r>
              <a:t>chunk 合并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892808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写入知识库</a:t>
            </a:r>
            <a:br/>
            <a:r>
              <a:t>向量 + 图谱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63240"/>
            <a:ext cx="9966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灌库产出</a:t>
            </a:r>
            <a:br/>
            <a:br/>
            <a:r>
              <a:t>• text_chunks：带 order_index 的正文块，含 inline 图片引用</a:t>
            </a:r>
            <a:br/>
            <a:r>
              <a:t>• 知识图谱：实体抽取与关系构建，支持 mix 混合检索</a:t>
            </a:r>
            <a:br/>
            <a:r>
              <a:t>• 向量索引：语义相似度召回，配合 rerank 精排</a:t>
            </a:r>
            <a:br/>
            <a:r>
              <a:t>• 工作目录：rag_storage_run 等，Web 与 CLI 共用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查询链路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澄清门控 + 混合检索 + 流式生成 + 配图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4630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用户提问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1664208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1325880"/>
            <a:ext cx="182880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澄清门控</a:t>
            </a:r>
            <a:br/>
            <a:r>
              <a:t>probe + rerank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1664208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143000"/>
            <a:ext cx="1417320" cy="502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拒答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1417320" cy="50292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直答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40280"/>
            <a:ext cx="141732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推荐澄清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938528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1691640"/>
            <a:ext cx="155448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用户点选</a:t>
            </a:r>
            <a:br/>
            <a:r>
              <a:t>推荐问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关键词抽取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向量 + 图谱</a:t>
            </a:r>
            <a:br/>
            <a:r>
              <a:t>mix 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rerank 重排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0" y="1664208"/>
            <a:ext cx="1371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24160" y="1664208"/>
            <a:ext cx="1371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73968" y="2011680"/>
            <a:ext cx="0" cy="4114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61320" y="2423160"/>
            <a:ext cx="1234440" cy="5943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LLM</a:t>
            </a:r>
            <a:br/>
            <a:r>
              <a:t>流式生成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query_progress_hooks</a:t>
            </a:r>
            <a:br/>
            <a:r>
              <a:t>记录检索 chunk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答案 citation</a:t>
            </a:r>
            <a:br/>
            <a:r>
              <a:t>收窄证据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resolve_query_images</a:t>
            </a:r>
            <a:br/>
            <a:r>
              <a:t>选图配对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build_inline_placements</a:t>
            </a:r>
            <a:br/>
            <a:r>
              <a:t>计算挂位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SSE 推送</a:t>
            </a:r>
            <a:br/>
            <a:r>
              <a:t>图文展示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3675887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9" y="3675887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79" y="3675887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3675887"/>
            <a:ext cx="6858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端到端时序</a:t>
            </a:r>
            <a:br/>
            <a:br/>
            <a:r>
              <a:t>浏览器 POST /api/query/stream  →  FastAPI 安装进度钩子  →  LightRAG aquery(stream)</a:t>
            </a:r>
            <a:br/>
            <a:r>
              <a:t>→ SSE 推送检索/生成状态  →  答案流式输出  →  finalize_inline_images  →  前端 Markdown 渲染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部署拓扑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同域单体架构 · 可本地 / 内网私有化部署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201400" cy="1417320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客户端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Web 浏览器</a:t>
            </a:r>
            <a:br/>
            <a:r>
              <a:t>对话 · 上传 · 流式展示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65176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2880360"/>
            <a:ext cx="11201400" cy="1874519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应用服务（单进程 FastAPI + Uvicorn）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54680"/>
            <a:ext cx="2286000" cy="12344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静态资源</a:t>
            </a:r>
            <a:br/>
            <a:r>
              <a:t>index.html</a:t>
            </a:r>
            <a:br/>
            <a:r>
              <a:t>app.js /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154680"/>
            <a:ext cx="2926080" cy="123444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API 层</a:t>
            </a:r>
            <a:br/>
            <a:r>
              <a:t>/api/query/stream</a:t>
            </a:r>
            <a:br/>
            <a:r>
              <a:t>/api/ingest</a:t>
            </a:r>
            <a:br/>
            <a:r>
              <a:t>/api/health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154680"/>
            <a:ext cx="2560320" cy="12344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RAG Pipeline</a:t>
            </a:r>
            <a:br/>
            <a:r>
              <a:t>澄清门控 · 配图</a:t>
            </a:r>
            <a:br/>
            <a:r>
              <a:t>query 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154680"/>
            <a:ext cx="2103120" cy="12344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LightRAG</a:t>
            </a:r>
            <a:br/>
            <a:r>
              <a:t>RAGAnything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75488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4983480"/>
            <a:ext cx="11201400" cy="1691640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数据与模型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57800"/>
            <a:ext cx="22860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知识库目录</a:t>
            </a:r>
            <a:br/>
            <a:r>
              <a:t>rag_storage_run</a:t>
            </a:r>
            <a:br/>
            <a:r>
              <a:t>向量·图谱·KV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5257800"/>
            <a:ext cx="22860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解析缓存</a:t>
            </a:r>
            <a:br/>
            <a:r>
              <a:t>MinerU 权重</a:t>
            </a:r>
            <a:br/>
            <a:r>
              <a:t>HF_HOME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5257800"/>
            <a:ext cx="22860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LLM 服务</a:t>
            </a:r>
            <a:br/>
            <a:r>
              <a:t>OpenAI 兼容</a:t>
            </a:r>
            <a:br/>
            <a:r>
              <a:t>vLLM / Ollama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257800"/>
            <a:ext cx="301752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Embedding + Rerank</a:t>
            </a:r>
            <a:br/>
            <a:r>
              <a:t>本地 HF / API</a:t>
            </a:r>
            <a:br/>
            <a:r>
              <a:t>CrossEncoder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启动：uv run python scripts/rag_web_server.py  ·  默认 http://127.0.0.1:8765  ·  配置统一由 .env 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面向客户场景的关键差异化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多格式文档</a:t>
            </a:r>
            <a:br/>
            <a:br/>
            <a:r>
              <a:t>PDF、Word、PPT、Excel、图像统一解析入库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混合检索</a:t>
            </a:r>
            <a:br/>
            <a:br/>
            <a:r>
              <a:t>向量语义 + 知识图谱，mix 模式融合召回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智能澄清</a:t>
            </a:r>
            <a:br/>
            <a:br/>
            <a:r>
              <a:t>低置信拒答，中置信推荐，高置信直答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图文并茂</a:t>
            </a:r>
            <a:br/>
            <a:br/>
            <a:r>
              <a:t>答案结构驱动配图，内联展示操作示意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流式体验</a:t>
            </a:r>
            <a:br/>
            <a:br/>
            <a:r>
              <a:t>SSE 实时推送检索/生成进度与逐字输出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私有化友好</a:t>
            </a:r>
            <a:br/>
            <a:br/>
            <a:r>
              <a:t>本地模型、离线权重、内网单节点部署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技术栈与支持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成熟开源组件 · 可扩展 · 可运维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基础框架：Python 3.10+ · FastAPI · LightRAG · RAGAnything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文档解析：MinerU（PDF-Extract-Kit）· LibreOffice（Office 转 PDF）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检索增强：向量 Embedding · 知识图谱 · Qwen CrossEncoder Rerank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大模型：OpenAI 兼容 API · 支持 vLLM / Ollama 本地推理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前端：原生 HTML/JS · SSE 流式 · Markdown 渲染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4069080" cy="4434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支持文档格式</a:t>
            </a:r>
            <a:br/>
            <a:br/>
            <a:r>
              <a:t>PDF  ·  DOC/DOCX</a:t>
            </a:r>
            <a:br/>
            <a:r>
              <a:t>PPT/PPTX  ·  XLS/XLSX</a:t>
            </a:r>
            <a:br/>
            <a:r>
              <a:t>TXT  ·  MD  ·  图像</a:t>
            </a:r>
            <a:br/>
            <a:br/>
            <a:r>
              <a:t>典型部署</a:t>
            </a:r>
            <a:br/>
            <a:br/>
            <a:r>
              <a:t>Windows / Linux 单节点</a:t>
            </a:r>
            <a:br/>
            <a:r>
              <a:t>GPU 可选（解析 / 本地模型）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欢迎现场演示与 Q&amp;A</a:t>
            </a:r>
            <a:br/>
            <a:br/>
            <a:r>
              <a:t>RAG-Anything · 让文档知识触手可及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